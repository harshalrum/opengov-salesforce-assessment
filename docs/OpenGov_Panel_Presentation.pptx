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4A3FFF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9" autoAdjust="0"/>
    <p:restoredTop sz="94610"/>
  </p:normalViewPr>
  <p:slideViewPr>
    <p:cSldViewPr snapToGrid="0" snapToObjects="1">
      <p:cViewPr>
        <p:scale>
          <a:sx n="120" d="100"/>
          <a:sy n="120" d="100"/>
        </p:scale>
        <p:origin x="1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190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11480"/>
            <a:ext cx="91440" cy="91440"/>
          </a:xfrm>
          <a:prstGeom prst="ellipse">
            <a:avLst/>
          </a:prstGeom>
          <a:solidFill>
            <a:srgbClr val="4A3FFF"/>
          </a:solidFill>
          <a:ln w="12700">
            <a:solidFill>
              <a:srgbClr val="4A3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05872" y="411480"/>
            <a:ext cx="91440" cy="91440"/>
          </a:xfrm>
          <a:prstGeom prst="ellipse">
            <a:avLst/>
          </a:prstGeom>
          <a:solidFill>
            <a:srgbClr val="4A3FFF"/>
          </a:solidFill>
          <a:ln w="12700">
            <a:solidFill>
              <a:srgbClr val="4A3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570464" y="411480"/>
            <a:ext cx="91440" cy="91440"/>
          </a:xfrm>
          <a:prstGeom prst="ellipse">
            <a:avLst/>
          </a:prstGeom>
          <a:solidFill>
            <a:srgbClr val="4A3FFF"/>
          </a:solidFill>
          <a:ln w="12700">
            <a:solidFill>
              <a:srgbClr val="4A3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735056" y="411480"/>
            <a:ext cx="91440" cy="91440"/>
          </a:xfrm>
          <a:prstGeom prst="ellipse">
            <a:avLst/>
          </a:prstGeom>
          <a:solidFill>
            <a:srgbClr val="4A3FFF"/>
          </a:solidFill>
          <a:ln w="12700">
            <a:solidFill>
              <a:srgbClr val="4A3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899648" y="411480"/>
            <a:ext cx="91440" cy="91440"/>
          </a:xfrm>
          <a:prstGeom prst="ellipse">
            <a:avLst/>
          </a:prstGeom>
          <a:solidFill>
            <a:srgbClr val="4A3FFF"/>
          </a:solidFill>
          <a:ln w="12700">
            <a:solidFill>
              <a:srgbClr val="4A3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064240" y="411480"/>
            <a:ext cx="91440" cy="91440"/>
          </a:xfrm>
          <a:prstGeom prst="ellipse">
            <a:avLst/>
          </a:prstGeom>
          <a:solidFill>
            <a:srgbClr val="4A3FFF"/>
          </a:solidFill>
          <a:ln w="12700">
            <a:solidFill>
              <a:srgbClr val="4A3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65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4A3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Salesforce Developer Assessment</a:t>
            </a:r>
            <a:endParaRPr lang="en-US" sz="5000" dirty="0">
              <a:solidFill>
                <a:srgbClr val="4A3FFF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chemeClr val="accent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B2B Quote-to-Asset Automation</a:t>
            </a:r>
            <a:endParaRPr lang="en-US" sz="2800" dirty="0">
              <a:solidFill>
                <a:schemeClr val="accent1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66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CPQ · Apex · Flow · LWC · Experience Cloud · Platform Events</a:t>
            </a:r>
            <a:endParaRPr lang="en-US" sz="1600" dirty="0">
              <a:solidFill>
                <a:srgbClr val="3366FF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5623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Code Walkthrough · Q&amp;A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C8FBB34-3565-3970-E4D0-8AD5F584B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79" y="90687"/>
            <a:ext cx="2079266" cy="10073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3366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>
              <a:solidFill>
                <a:srgbClr val="3366FF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3000" y="1600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Quick context &amp; architecture overview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1892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What was built and how the pieces connect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258568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258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43000" y="22585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43000" y="255117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End-to-end: Quote → Asset → Task → Community → real-time toast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916936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2916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43000" y="29169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Documentation walkthrough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3000" y="320954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Design docs, deployment guide, deliverables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3575304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3575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43000" y="35753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Apex code — how it works &amp; why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43000" y="38679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Trigger framework, Service layer, error handler, design rationale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4233672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200" y="4233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43000" y="42336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Flow — focus on the fault path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43000" y="45262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Record-Triggered Flow with cleaned errors + Platform Event publishing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48920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43000" y="4892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Key decisions &amp; future enhancements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43000" y="51846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Trade-offs, scaling roadmap, what I'd build next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7200" y="5550408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7200" y="5550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143000" y="55504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43000" y="58430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Happy to dig deeper on any part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OpenGov · Salesforce Developer Assessment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3366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>
              <a:solidFill>
                <a:srgbClr val="3366FF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Six layers, each with a single responsibility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657600" cy="1920240"/>
          </a:xfrm>
          <a:prstGeom prst="rect">
            <a:avLst/>
          </a:prstGeom>
          <a:solidFill>
            <a:srgbClr val="F7F9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73152" cy="1920240"/>
          </a:xfrm>
          <a:prstGeom prst="rect">
            <a:avLst/>
          </a:prstGeom>
          <a:solidFill>
            <a:srgbClr val="3366FF"/>
          </a:solidFill>
          <a:ln w="12700">
            <a:solidFill>
              <a:srgbClr val="3366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7160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CPQ Layer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Quote, Quote Lines, Product Rules, Asset Conversion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657600" cy="1920240"/>
          </a:xfrm>
          <a:prstGeom prst="rect">
            <a:avLst/>
          </a:prstGeom>
          <a:solidFill>
            <a:srgbClr val="F7F9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43400" y="1783080"/>
            <a:ext cx="73152" cy="1920240"/>
          </a:xfrm>
          <a:prstGeom prst="rect">
            <a:avLst/>
          </a:prstGeom>
          <a:solidFill>
            <a:srgbClr val="3366FF"/>
          </a:solidFill>
          <a:ln w="12700">
            <a:solidFill>
              <a:srgbClr val="3366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17720" y="20574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177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25780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Flow Layer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17720" y="2697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Record-Triggered Flow orchestrates Quote → Asset creation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29600" y="1783080"/>
            <a:ext cx="3657600" cy="1920240"/>
          </a:xfrm>
          <a:prstGeom prst="rect">
            <a:avLst/>
          </a:prstGeom>
          <a:solidFill>
            <a:srgbClr val="F7F9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29600" y="1783080"/>
            <a:ext cx="73152" cy="1920240"/>
          </a:xfrm>
          <a:prstGeom prst="rect">
            <a:avLst/>
          </a:prstGeom>
          <a:solidFill>
            <a:srgbClr val="3366FF"/>
          </a:solidFill>
          <a:ln w="12700">
            <a:solidFill>
              <a:srgbClr val="3366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503920" y="20574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5039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14400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Apex Layer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503920" y="2697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Trigger → Handler → Service. Bulkified. Reusable across surfaces.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3657600" cy="1920240"/>
          </a:xfrm>
          <a:prstGeom prst="rect">
            <a:avLst/>
          </a:prstGeom>
          <a:solidFill>
            <a:srgbClr val="F7F9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73152" cy="1920240"/>
          </a:xfrm>
          <a:prstGeom prst="rect">
            <a:avLst/>
          </a:prstGeom>
          <a:solidFill>
            <a:srgbClr val="3366FF"/>
          </a:solidFill>
          <a:ln w="12700">
            <a:solidFill>
              <a:srgbClr val="3366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31520" y="42519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152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371600" y="4297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Validation Layer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31520" y="4892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Declarative for simple checks, addError() for cross-record/cross-object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343400" y="3977640"/>
            <a:ext cx="3657600" cy="1920240"/>
          </a:xfrm>
          <a:prstGeom prst="rect">
            <a:avLst/>
          </a:prstGeom>
          <a:solidFill>
            <a:srgbClr val="F7F9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343400" y="3977640"/>
            <a:ext cx="73152" cy="1920240"/>
          </a:xfrm>
          <a:prstGeom prst="rect">
            <a:avLst/>
          </a:prstGeom>
          <a:solidFill>
            <a:srgbClr val="3366FF"/>
          </a:solidFill>
          <a:ln w="12700">
            <a:solidFill>
              <a:srgbClr val="3366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617720" y="42519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61772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257800" y="4297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Event Layer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617720" y="4892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Platform Event bridges server-side Flow to client-side LWC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229600" y="3977640"/>
            <a:ext cx="3657600" cy="1920240"/>
          </a:xfrm>
          <a:prstGeom prst="rect">
            <a:avLst/>
          </a:prstGeom>
          <a:solidFill>
            <a:srgbClr val="F7F9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229600" y="3977640"/>
            <a:ext cx="73152" cy="1920240"/>
          </a:xfrm>
          <a:prstGeom prst="rect">
            <a:avLst/>
          </a:prstGeom>
          <a:solidFill>
            <a:srgbClr val="3366FF"/>
          </a:solidFill>
          <a:ln w="12700">
            <a:solidFill>
              <a:srgbClr val="3366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503920" y="42519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50392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144000" y="4297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Community Layer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503920" y="4892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Experience Cloud + 4 custom LWCs, fully scoped to logged-in customer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OpenGov · Salesforce Developer Assessment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3366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END-TO-END PROCESS</a:t>
            </a:r>
            <a:endParaRPr lang="en-US" sz="1200" dirty="0">
              <a:solidFill>
                <a:srgbClr val="3366FF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What you'll see in the live demo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691640"/>
            <a:ext cx="2743200" cy="1234440"/>
          </a:xfrm>
          <a:prstGeom prst="rect">
            <a:avLst/>
          </a:prstGeom>
          <a:solidFill>
            <a:srgbClr val="F7F9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73152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66928" y="185623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6928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15568" y="185623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Quote: Draft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66928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Sales rep creates Quote</a:t>
            </a:r>
            <a:endParaRPr lang="en-US" sz="1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for Customer Account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337560" y="1691640"/>
            <a:ext cx="2743200" cy="1234440"/>
          </a:xfrm>
          <a:prstGeom prst="rect">
            <a:avLst/>
          </a:prstGeom>
          <a:solidFill>
            <a:srgbClr val="F7F9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337560" y="1691640"/>
            <a:ext cx="73152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538728" y="185623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538728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087368" y="185623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Add Hardware Line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538728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Description required —</a:t>
            </a:r>
            <a:endParaRPr lang="en-US" sz="1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else CPQ Product Rule fails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309360" y="1691640"/>
            <a:ext cx="2743200" cy="1234440"/>
          </a:xfrm>
          <a:prstGeom prst="rect">
            <a:avLst/>
          </a:prstGeom>
          <a:solidFill>
            <a:srgbClr val="F7F9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09360" y="1691640"/>
            <a:ext cx="73152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510528" y="185623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510528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059168" y="185623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Status → Contracted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10528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Record-Triggered Flow fires:</a:t>
            </a:r>
            <a:endParaRPr lang="en-US" sz="1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success OR fault path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281160" y="1691640"/>
            <a:ext cx="2743200" cy="1234440"/>
          </a:xfrm>
          <a:prstGeom prst="rect">
            <a:avLst/>
          </a:prstGeom>
          <a:solidFill>
            <a:srgbClr val="3366FF"/>
          </a:solidFill>
          <a:ln w="12700">
            <a:solidFill>
              <a:srgbClr val="3366FF"/>
            </a:solidFill>
            <a:prstDash val="solid"/>
          </a:ln>
        </p:spPr>
        <p:txBody>
          <a:bodyPr/>
          <a:lstStyle/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281160" y="1691640"/>
            <a:ext cx="73152" cy="1234440"/>
          </a:xfrm>
          <a:prstGeom prst="rect">
            <a:avLst/>
          </a:prstGeom>
          <a:solidFill>
            <a:srgbClr val="3366FF"/>
          </a:solidFill>
          <a:ln w="12700">
            <a:solidFill>
              <a:srgbClr val="3366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482328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030968" y="185623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63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Platform Event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482328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63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Real-time toast appears</a:t>
            </a:r>
            <a:endParaRPr lang="en-US" sz="1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F163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on Quote page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743200" cy="1234440"/>
          </a:xfrm>
          <a:prstGeom prst="rect">
            <a:avLst/>
          </a:prstGeom>
          <a:solidFill>
            <a:srgbClr val="F7F9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65760" y="4069080"/>
            <a:ext cx="73152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66928" y="423367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66928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115568" y="423367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Asset Created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66928" y="4709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Status = Purchased</a:t>
            </a:r>
            <a:endParaRPr lang="en-US" sz="1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(field-mapped via Flow)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337560" y="4069080"/>
            <a:ext cx="2743200" cy="1234440"/>
          </a:xfrm>
          <a:prstGeom prst="rect">
            <a:avLst/>
          </a:prstGeom>
          <a:solidFill>
            <a:srgbClr val="F7F9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337560" y="4069080"/>
            <a:ext cx="73152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538728" y="423367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538728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087368" y="423367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Status → Installed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538728" y="4709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Service team marks asset</a:t>
            </a:r>
            <a:endParaRPr lang="en-US" sz="1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as installed at customer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309360" y="4069080"/>
            <a:ext cx="2743200" cy="1234440"/>
          </a:xfrm>
          <a:prstGeom prst="rect">
            <a:avLst/>
          </a:prstGeom>
          <a:solidFill>
            <a:srgbClr val="F7F9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309360" y="4069080"/>
            <a:ext cx="73152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510528" y="423367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510528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059168" y="423367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Kickoff Task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510528" y="4709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Auto-created on Account</a:t>
            </a:r>
            <a:endParaRPr lang="en-US" sz="1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(Apex Trigger fires)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281160" y="4069080"/>
            <a:ext cx="2743200" cy="1234440"/>
          </a:xfrm>
          <a:prstGeom prst="rect">
            <a:avLst/>
          </a:prstGeom>
          <a:solidFill>
            <a:srgbClr val="F7F9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9281160" y="4069080"/>
            <a:ext cx="73152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482328" y="423367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482328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0030968" y="423367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Warranty Registration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9482328" y="4709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addError() blocks duplicates</a:t>
            </a:r>
            <a:endParaRPr lang="en-US" sz="1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and cross-account assets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3108960" y="2308860"/>
            <a:ext cx="22860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3108960" y="4686300"/>
            <a:ext cx="22860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080760" y="2308860"/>
            <a:ext cx="22860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6080760" y="4686300"/>
            <a:ext cx="22860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9052560" y="2308860"/>
            <a:ext cx="22860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9052560" y="4686300"/>
            <a:ext cx="22860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10652760" y="2926080"/>
            <a:ext cx="0" cy="571500"/>
          </a:xfrm>
          <a:prstGeom prst="line">
            <a:avLst/>
          </a:prstGeom>
          <a:noFill/>
          <a:ln w="19050">
            <a:solidFill>
              <a:srgbClr val="00D4FF"/>
            </a:solidFill>
            <a:prstDash val="dash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1737360" y="3497580"/>
            <a:ext cx="891540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dash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1737360" y="3497580"/>
            <a:ext cx="0" cy="571500"/>
          </a:xfrm>
          <a:prstGeom prst="line">
            <a:avLst/>
          </a:prstGeom>
          <a:noFill/>
          <a:ln w="19050">
            <a:solidFill>
              <a:srgbClr val="00D4FF"/>
            </a:solidFill>
            <a:prstDash val="dash"/>
            <a:tailEnd type="triangle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365760" y="5989320"/>
            <a:ext cx="11430000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Showcase moments: </a:t>
            </a:r>
            <a:r>
              <a:rPr lang="en-US" sz="1100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Step 3 fault path → cleaned error message via Apex InvocableMethod.   Step 8 addError() → cross-record validation impossible declaratively.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OpenGov · Salesforce Developer Assessment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5" name="Shape 16">
            <a:extLst>
              <a:ext uri="{FF2B5EF4-FFF2-40B4-BE49-F238E27FC236}">
                <a16:creationId xmlns:a16="http://schemas.microsoft.com/office/drawing/2014/main" id="{44CD1E51-AAFB-3060-D384-3C7771762311}"/>
              </a:ext>
            </a:extLst>
          </p:cNvPr>
          <p:cNvSpPr/>
          <p:nvPr/>
        </p:nvSpPr>
        <p:spPr>
          <a:xfrm>
            <a:off x="9482328" y="184728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lIns="91440" tIns="365760" rIns="91440" bIns="91440" anchor="ctr" anchorCtr="1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3366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>
              <a:solidFill>
                <a:srgbClr val="3366FF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Three deliverables, each with a specific audience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47120" cy="1234440"/>
          </a:xfrm>
          <a:prstGeom prst="rect">
            <a:avLst/>
          </a:prstGeom>
          <a:solidFill>
            <a:srgbClr val="F7F9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91440" cy="1234440"/>
          </a:xfrm>
          <a:prstGeom prst="rect">
            <a:avLst/>
          </a:prstGeom>
          <a:solidFill>
            <a:srgbClr val="3366FF"/>
          </a:solidFill>
          <a:ln w="12700">
            <a:solidFill>
              <a:srgbClr val="3366FF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3366F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Solution Design Document</a:t>
            </a: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05840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6B8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10 pages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For: Senior reviewers + architects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5786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Architecture · Schema · CPQ config · Validation strategy · Future state · CI/CD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11247120" cy="1234440"/>
          </a:xfrm>
          <a:prstGeom prst="rect">
            <a:avLst/>
          </a:prstGeom>
          <a:solidFill>
            <a:srgbClr val="F7F9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91440" cy="1234440"/>
          </a:xfrm>
          <a:prstGeom prst="rect">
            <a:avLst/>
          </a:prstGeom>
          <a:solidFill>
            <a:srgbClr val="3366FF"/>
          </a:solidFill>
          <a:ln w="12700">
            <a:solidFill>
              <a:srgbClr val="3366FF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3366FF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Community Addendum</a:t>
            </a: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058400" y="3291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6B8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5 pages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3703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For: Reviewers focused on the portal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39959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Security model · Sharing strategy · Cross-surface reuse · Production checklist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11247120" cy="1234440"/>
          </a:xfrm>
          <a:prstGeom prst="rect">
            <a:avLst/>
          </a:prstGeom>
          <a:solidFill>
            <a:srgbClr val="F7F9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91440" cy="1234440"/>
          </a:xfrm>
          <a:prstGeom prst="rect">
            <a:avLst/>
          </a:prstGeom>
          <a:solidFill>
            <a:srgbClr val="3366FF"/>
          </a:solidFill>
          <a:ln w="12700">
            <a:solidFill>
              <a:srgbClr val="3366FF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3366FF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1520" y="4709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Platform Event Addendum</a:t>
            </a: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058400" y="4709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6B8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6 pages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1520" y="5120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For: Reviewers focused on event-driven design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31520" y="54132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Why Platform Event vs alternatives · Schema · empApi subscriber · Production considerations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Plus: deployment guide, demo script, READMEs, and 85%+ Apex test coverage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OpenGov · Salesforce Developer Assessment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3366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APEX CODE</a:t>
            </a:r>
            <a:endParaRPr lang="en-US" sz="1200" dirty="0">
              <a:solidFill>
                <a:srgbClr val="3366FF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Trigger → Handler → Service, with cross-surface reuse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Layered Architecture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5029200" cy="8229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3 lines. Dispatcher only.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5029200" cy="822960"/>
          </a:xfrm>
          <a:prstGeom prst="rect">
            <a:avLst/>
          </a:prstGeom>
          <a:solidFill>
            <a:srgbClr val="8FAACC"/>
          </a:solidFill>
          <a:ln w="12700">
            <a:solidFill>
              <a:srgbClr val="8FAAC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Handler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Routes context. Extends abstract base.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4480560"/>
            <a:ext cx="50292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4937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All SOQL, DML, and business logic.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743200" y="3108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D4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743200" y="4251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D4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What this gives me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0" y="2331720"/>
            <a:ext cx="137160" cy="137160"/>
          </a:xfrm>
          <a:prstGeom prst="ellipse">
            <a:avLst/>
          </a:prstGeom>
          <a:solidFill>
            <a:srgbClr val="3366FF"/>
          </a:solidFill>
          <a:ln w="12700">
            <a:solidFill>
              <a:srgbClr val="3366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20840" y="2194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Bulkified by design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720840" y="2560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200-record test asserts queries &lt; 10, DML &lt; 10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0" y="3246120"/>
            <a:ext cx="137160" cy="137160"/>
          </a:xfrm>
          <a:prstGeom prst="ellipse">
            <a:avLst/>
          </a:prstGeom>
          <a:solidFill>
            <a:srgbClr val="3366FF"/>
          </a:solidFill>
          <a:ln w="12700">
            <a:solidFill>
              <a:srgbClr val="3366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720840" y="3108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Reusable across surfaces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20840" y="3474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FlowErrorHandler called from Flow, LWC, and Apex catch blocks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0" y="4160520"/>
            <a:ext cx="137160" cy="137160"/>
          </a:xfrm>
          <a:prstGeom prst="ellipse">
            <a:avLst/>
          </a:prstGeom>
          <a:solidFill>
            <a:srgbClr val="3366FF"/>
          </a:solidFill>
          <a:ln w="12700">
            <a:solidFill>
              <a:srgbClr val="3366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720840" y="4023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Recursion-safe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720840" y="4389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Static bypass mechanism in TriggerHandler base class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00800" y="5074920"/>
            <a:ext cx="137160" cy="137160"/>
          </a:xfrm>
          <a:prstGeom prst="ellipse">
            <a:avLst/>
          </a:prstGeom>
          <a:solidFill>
            <a:srgbClr val="3366FF"/>
          </a:solidFill>
          <a:ln w="12700">
            <a:solidFill>
              <a:srgbClr val="3366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720840" y="4937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85%+ test coverage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720840" y="5303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Unit tests on cleaner, integration tests on services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OpenGov · Salesforce Developer Assessment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3366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RECORD-TRIGGERED FLOW</a:t>
            </a:r>
            <a:endParaRPr lang="en-US" sz="1200" dirty="0">
              <a:solidFill>
                <a:srgbClr val="3366FF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Focus: the fault path &amp; Platform Event publishing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0" y="1691640"/>
            <a:ext cx="246888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120640" y="1764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Quote Status = Contracted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120640" y="20208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Record-Triggered · after save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126480" y="231343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D4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0" y="2542032"/>
            <a:ext cx="246888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120640" y="26151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Get Hardware Quote Lines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120640" y="28712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SOQL · Product Family = Hardware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126480" y="316382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D4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29200" y="3392424"/>
            <a:ext cx="2468880" cy="594360"/>
          </a:xfrm>
          <a:prstGeom prst="rect">
            <a:avLst/>
          </a:prstGeom>
          <a:solidFill>
            <a:srgbClr val="1F4080"/>
          </a:solidFill>
          <a:ln w="12700">
            <a:solidFill>
              <a:srgbClr val="1F4080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120640" y="34655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Loop → Create Asset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120640" y="37216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Field mapping from Quote Line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 flipH="1">
            <a:off x="2926080" y="4023360"/>
            <a:ext cx="2560320" cy="557784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040880" y="4023360"/>
            <a:ext cx="2651760" cy="548640"/>
          </a:xfrm>
          <a:prstGeom prst="line">
            <a:avLst/>
          </a:prstGeom>
          <a:noFill/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560320" y="4041648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560320" y="40416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2E7D3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869680" y="4041648"/>
            <a:ext cx="6400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869680" y="4041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C628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fault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280160" y="4572000"/>
            <a:ext cx="2560320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371600" y="4645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Publish Event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71600" y="4901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Success = true · count = N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412480" y="4572000"/>
            <a:ext cx="2560320" cy="5943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503920" y="4645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Clean via FlowErrorHandler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503920" y="4901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Apex @InvocableMethod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555480" y="521208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628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412480" y="5440680"/>
            <a:ext cx="2560320" cy="5943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503920" y="5513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Publish Event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503920" y="57698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Success = false · cleaned msg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560320" y="5166360"/>
            <a:ext cx="3535528" cy="868680"/>
          </a:xfrm>
          <a:prstGeom prst="line">
            <a:avLst/>
          </a:prstGeom>
          <a:noFill/>
          <a:ln w="15240">
            <a:solidFill>
              <a:srgbClr val="00D4FF"/>
            </a:solidFill>
            <a:prstDash val="dash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692640" y="6035040"/>
            <a:ext cx="0" cy="0"/>
          </a:xfrm>
          <a:prstGeom prst="line">
            <a:avLst/>
          </a:prstGeom>
          <a:noFill/>
          <a:ln w="15240">
            <a:solidFill>
              <a:srgbClr val="00D4FF"/>
            </a:solidFill>
            <a:prstDash val="dash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809848" y="6035040"/>
            <a:ext cx="4572000" cy="3840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809848" y="60350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63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Headless LWC subscribes → Toast on Quote page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B8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Both paths publish to /event/Asset_Creation_Result__e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OpenGov · Salesforce Developer Assessment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3366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KEY DECISIONS &amp; ROADMAP</a:t>
            </a:r>
            <a:endParaRPr lang="en-US" sz="1200" dirty="0">
              <a:solidFill>
                <a:srgbClr val="3366FF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Trade-offs made today, enhancements planned next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Trade-offs I made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35508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What I'd build next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126480" y="1828800"/>
            <a:ext cx="0" cy="429768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486400" cy="1097280"/>
          </a:xfrm>
          <a:prstGeom prst="rect">
            <a:avLst/>
          </a:prstGeom>
          <a:solidFill>
            <a:srgbClr val="F7F9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73152" cy="1097280"/>
          </a:xfrm>
          <a:prstGeom prst="rect">
            <a:avLst/>
          </a:prstGeom>
          <a:solidFill>
            <a:srgbClr val="3366FF"/>
          </a:solidFill>
          <a:ln w="12700">
            <a:solidFill>
              <a:srgbClr val="3366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Hybrid Flow + Apex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5800" y="26517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Flow for orchestration, Apex for bulk performance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5486400" cy="1097280"/>
          </a:xfrm>
          <a:prstGeom prst="rect">
            <a:avLst/>
          </a:prstGeom>
          <a:solidFill>
            <a:srgbClr val="F7F9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73152" cy="1097280"/>
          </a:xfrm>
          <a:prstGeom prst="rect">
            <a:avLst/>
          </a:prstGeom>
          <a:solidFill>
            <a:srgbClr val="3366FF"/>
          </a:solidFill>
          <a:ln w="12700">
            <a:solidFill>
              <a:srgbClr val="3366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" y="3520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Invocable error cleaner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85800" y="3931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One FlowErrorHandler used by Flow, LWC, and Apex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5486400" cy="1097280"/>
          </a:xfrm>
          <a:prstGeom prst="rect">
            <a:avLst/>
          </a:prstGeom>
          <a:solidFill>
            <a:srgbClr val="F7F9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4663440"/>
            <a:ext cx="73152" cy="1097280"/>
          </a:xfrm>
          <a:prstGeom prst="rect">
            <a:avLst/>
          </a:prstGeom>
          <a:solidFill>
            <a:srgbClr val="3366FF"/>
          </a:solidFill>
          <a:ln w="12700">
            <a:solidFill>
              <a:srgbClr val="3366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85800" y="4800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Platform Event for UI feedback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5800" y="5212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Sub-second toast without polling or page refresh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55080" y="2103120"/>
            <a:ext cx="548640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92240" y="22860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922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086600" y="22128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Application Log Object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08660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Custom log + Tableau dashboard for observability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355080" y="3063240"/>
            <a:ext cx="548640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92240" y="32461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922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086600" y="31729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Case Management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08660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Customer requests service via Community → Cases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355080" y="4023360"/>
            <a:ext cx="548640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92240" y="42062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922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086600" y="4133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Full CI/CD Pipeline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08660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GitHub Actions: PMD, scratch-org-per-PR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55080" y="4983480"/>
            <a:ext cx="548640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492240" y="51663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49224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086600" y="5093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External Integrations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086600" y="5440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Same Platform Event consumed by ERP / billing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OpenGov · Salesforce Developer Assessment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AE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11480"/>
            <a:ext cx="91440" cy="91440"/>
          </a:xfrm>
          <a:prstGeom prst="ellipse">
            <a:avLst/>
          </a:prstGeom>
          <a:solidFill>
            <a:srgbClr val="3366FF"/>
          </a:solidFill>
          <a:ln w="12700">
            <a:solidFill>
              <a:srgbClr val="3366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0405872" y="411480"/>
            <a:ext cx="91440" cy="91440"/>
          </a:xfrm>
          <a:prstGeom prst="ellipse">
            <a:avLst/>
          </a:prstGeom>
          <a:solidFill>
            <a:srgbClr val="3366FF"/>
          </a:solidFill>
          <a:ln w="12700">
            <a:solidFill>
              <a:srgbClr val="3366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570464" y="411480"/>
            <a:ext cx="91440" cy="91440"/>
          </a:xfrm>
          <a:prstGeom prst="ellipse">
            <a:avLst/>
          </a:prstGeom>
          <a:solidFill>
            <a:srgbClr val="3366FF"/>
          </a:solidFill>
          <a:ln w="12700">
            <a:solidFill>
              <a:srgbClr val="3366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735056" y="411480"/>
            <a:ext cx="91440" cy="91440"/>
          </a:xfrm>
          <a:prstGeom prst="ellipse">
            <a:avLst/>
          </a:prstGeom>
          <a:solidFill>
            <a:srgbClr val="3366FF"/>
          </a:solidFill>
          <a:ln w="12700">
            <a:solidFill>
              <a:srgbClr val="3366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899648" y="411480"/>
            <a:ext cx="91440" cy="91440"/>
          </a:xfrm>
          <a:prstGeom prst="ellipse">
            <a:avLst/>
          </a:prstGeom>
          <a:solidFill>
            <a:srgbClr val="3366FF"/>
          </a:solidFill>
          <a:ln w="12700">
            <a:solidFill>
              <a:srgbClr val="3366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1064240" y="411480"/>
            <a:ext cx="91440" cy="91440"/>
          </a:xfrm>
          <a:prstGeom prst="ellipse">
            <a:avLst/>
          </a:prstGeom>
          <a:solidFill>
            <a:srgbClr val="3366FF"/>
          </a:solidFill>
          <a:ln w="12700">
            <a:solidFill>
              <a:srgbClr val="3366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150951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3366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400" dirty="0">
              <a:solidFill>
                <a:srgbClr val="3366FF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4A3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Let's discuss</a:t>
            </a:r>
            <a:endParaRPr lang="en-US" sz="6400" dirty="0">
              <a:solidFill>
                <a:srgbClr val="4A3FFF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3366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Open to questions on any part of the design, code, or trade-offs.</a:t>
            </a:r>
            <a:endParaRPr lang="en-US" sz="2000" dirty="0">
              <a:solidFill>
                <a:srgbClr val="3366FF"/>
              </a:solidFill>
              <a:latin typeface="Aptos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" y="5852160"/>
            <a:ext cx="1371600" cy="0"/>
          </a:xfrm>
          <a:prstGeom prst="line">
            <a:avLst/>
          </a:prstGeom>
          <a:noFill/>
          <a:ln w="25400">
            <a:solidFill>
              <a:srgbClr val="4A3F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366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Thank you for your time.</a:t>
            </a:r>
            <a:endParaRPr lang="en-US" sz="1800" dirty="0">
              <a:solidFill>
                <a:srgbClr val="3366FF"/>
              </a:solidFill>
              <a:latin typeface="Aptos" panose="020B00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D2D9877-C603-6FD5-8044-EC2512AE0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801" y="-45720"/>
            <a:ext cx="2076157" cy="1005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813</Words>
  <Application>Microsoft Office PowerPoint</Application>
  <PresentationFormat>Widescreen</PresentationFormat>
  <Paragraphs>187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OpenGov Salesforce Developer Assessment</dc:title>
  <dc:subject>PptxGenJS Presentation</dc:subject>
  <dc:creator>OpenGov Candidate</dc:creator>
  <cp:lastModifiedBy>Harshal Ramdham</cp:lastModifiedBy>
  <cp:revision>2</cp:revision>
  <dcterms:created xsi:type="dcterms:W3CDTF">2026-05-26T05:49:02Z</dcterms:created>
  <dcterms:modified xsi:type="dcterms:W3CDTF">2026-05-26T06:53:47Z</dcterms:modified>
</cp:coreProperties>
</file>